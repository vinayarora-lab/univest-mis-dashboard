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Burn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CBD5E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Sep '25</c:v>
                  </c:pt>
                  <c:pt idx="1">
                    <c:v>Oct '25</c:v>
                  </c:pt>
                  <c:pt idx="2">
                    <c:v>Nov '25</c:v>
                  </c:pt>
                  <c:pt idx="3">
                    <c:v>Dec '25</c:v>
                  </c:pt>
                  <c:pt idx="4">
                    <c:v>Jan '26</c:v>
                  </c:pt>
                  <c:pt idx="5">
                    <c:v>Feb '26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12.1248306</c:v>
                </c:pt>
                <c:pt idx="1">
                  <c:v>20.5873067</c:v>
                </c:pt>
                <c:pt idx="2">
                  <c:v>16.707968</c:v>
                </c:pt>
                <c:pt idx="3">
                  <c:v>19.0956079</c:v>
                </c:pt>
                <c:pt idx="4">
                  <c:v>16.7397245</c:v>
                </c:pt>
                <c:pt idx="5">
                  <c:v>16.0807027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750" u="none">
                  <a:solidFill>
                    <a:srgbClr val="CBD5E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Balance</c:v>
                </c:pt>
              </c:strCache>
            </c:strRef>
          </c:tx>
          <c:spPr>
            <a:solidFill>
              <a:srgbClr val="22C55E"/>
            </a:solidFill>
            <a:ln w="31750" cap="flat">
              <a:solidFill>
                <a:srgbClr val="22C5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Sep '25</c:v>
                  </c:pt>
                  <c:pt idx="1">
                    <c:v>Oct '25</c:v>
                  </c:pt>
                  <c:pt idx="2">
                    <c:v>Nov '25</c:v>
                  </c:pt>
                  <c:pt idx="3">
                    <c:v>Dec '25</c:v>
                  </c:pt>
                  <c:pt idx="4">
                    <c:v>Jan '26</c:v>
                  </c:pt>
                  <c:pt idx="5">
                    <c:v>Feb '26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28.8166401</c:v>
                </c:pt>
                <c:pt idx="1">
                  <c:v>18.5394911</c:v>
                </c:pt>
                <c:pt idx="2">
                  <c:v>10.7558914</c:v>
                </c:pt>
                <c:pt idx="3">
                  <c:v>1.2078995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Burn &amp; Runway Forecast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7955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6 Months  ·  Sep '25 – Feb '26  ·  Bank + FD basis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011680" cy="1188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63040"/>
            <a:ext cx="201168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5448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LIQUID (Bank + FD)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29768" y="175564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₹56.92 Cr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9768" y="226771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Bank: -₹9.50 Cr  FD: ₹66.42 Cr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14016" y="1463040"/>
            <a:ext cx="2011680" cy="1188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14016" y="146304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55448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BURN (Gross)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23744" y="175564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₹16.89 Cr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23744" y="226771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burn: -₹7.10 Cr/mo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07992" y="1463040"/>
            <a:ext cx="2011680" cy="1188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07992" y="1463040"/>
            <a:ext cx="20116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55448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(Net Burn Basis)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17720" y="175564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17720" y="226771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zero: Nov 2026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01968" y="1463040"/>
            <a:ext cx="2011680" cy="11887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1463040"/>
            <a:ext cx="201168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11696" y="155448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TREND (Sept→Feb)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711696" y="175564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+34.7%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11696" y="226771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₹11.23 Cr → ₹15.13 Cr</a:t>
            </a:r>
            <a:endParaRPr lang="en-US" sz="8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320040" y="2816352"/>
          <a:ext cx="42062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Chart 1" descr=""/>
          <p:cNvGraphicFramePr/>
          <p:nvPr/>
        </p:nvGraphicFramePr>
        <p:xfrm>
          <a:off x="4709160" y="2816352"/>
          <a:ext cx="42062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Shape 24"/>
          <p:cNvSpPr/>
          <p:nvPr/>
        </p:nvSpPr>
        <p:spPr>
          <a:xfrm>
            <a:off x="320040" y="4736592"/>
            <a:ext cx="8595360" cy="237744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20040" y="473659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Runway &lt; 9 months (8 mos net) — Review cash strategy  |  Liquid: ₹56.92 Cr  |  Avg net burn: -₹7.10 Cr/mo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20040" y="5001768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Generated from Univest Finance Dashboard  ·  29 Mar 2026  ·  Amounts in ₹ Crores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Cash Runway Analysis</dc:subject>
  <dc:creator>Univest Dashboard</dc:creator>
  <cp:lastModifiedBy>Univest Dashboard</cp:lastModifiedBy>
  <cp:revision>1</cp:revision>
  <dcterms:created xsi:type="dcterms:W3CDTF">2026-03-29T09:05:58Z</dcterms:created>
  <dcterms:modified xsi:type="dcterms:W3CDTF">2026-03-29T09:05:58Z</dcterms:modified>
</cp:coreProperties>
</file>